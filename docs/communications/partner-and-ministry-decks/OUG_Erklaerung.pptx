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aufbauen —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warum es jetzt gebraucht wird.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öffentlich-rechtliche Hochschule für Menschen,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das bestehende System nicht erreicht.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4114800" cy="27432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1.1  ·  20. Februar 2026  ·  Konzeptbüro OUG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731520"/>
            <a:ext cx="3474720" cy="3474720"/>
          </a:xfrm>
          <a:prstGeom prst="ellipse">
            <a:avLst/>
          </a:prstGeom>
          <a:solidFill>
            <a:srgbClr val="243A5E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182880"/>
            <a:ext cx="2011680" cy="2011680"/>
          </a:xfrm>
          <a:prstGeom prst="ellipse">
            <a:avLst/>
          </a:prstGeom>
          <a:solidFill>
            <a:srgbClr val="006C8A">
              <a:alpha val="28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Ausgangsfrage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10312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21031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887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kann Hochschulbildung in Deutschland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 hochwertig, wirklich zugänglich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finanziell tragfähig bleiben —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trotz, sondern wegen des Wandels?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337560"/>
            <a:ext cx="265176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Demografischer Wandel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Schulabgänger, ältere Bevölkerung, Zuwanderung — das System war nicht dafür gebaut.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3337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3337560"/>
            <a:ext cx="265176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5" name="Text 13"/>
          <p:cNvSpPr/>
          <p:nvPr/>
        </p:nvSpPr>
        <p:spPr>
          <a:xfrm>
            <a:off x="3401568" y="3429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Lebenslanges Lernen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3794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Berufstätige, Pflegende, Menschen in Umbrüchen brauchen Bildung — außerhalb klassischer Strukturen.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3337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3337560"/>
            <a:ext cx="265176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3429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Marktversagen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08776" y="37947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Anbieter wachsen rasant. Die öffentliche Hand schaut zu und profitiert nicht.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 das System nicht erreicht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100.000 Menschen in Deutschland wollen studieren — und können nicht. Nicht wegen mangelnder Fähigkeit, sondern wegen struktureller Hindernisse.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2651760" cy="54864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Berufstätige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 arbeitende Menschen haben keine Zeit für Präsenzpflichten, starre Semesterzeiten, Klausurwochen.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8288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828800"/>
            <a:ext cx="2651760" cy="54864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Pflegende Angehörige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1568" y="233172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Eltern oder Kinder pflegt, kann keine Wochenstruktur einer klassischen Hochschule einhalten.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182880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828800"/>
            <a:ext cx="2651760" cy="54864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Menschen in ländlichen Regionen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233172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Hochschule in Reichweite, keine Möglichkeit täglich zu pendeln, kein Ersatz durch Qualitätsangebote.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83280"/>
            <a:ext cx="2651760" cy="54864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Menschen im Lebensumbruch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8862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Berufsumsteiger, Rückkehrer aus Elternzeit, Menschen nach Krisen — starre Zulassung schließt sie aus.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64408" y="338328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64408" y="3383280"/>
            <a:ext cx="2651760" cy="54864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25" name="Text 23"/>
          <p:cNvSpPr/>
          <p:nvPr/>
        </p:nvSpPr>
        <p:spPr>
          <a:xfrm>
            <a:off x="3401568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Zugewanderte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01568" y="38862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Ausländische Abschlüsse werden kaum anerkannt. Der Einstieg ins deutsche Bildungssystem ist strukturell versperrt.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71616" y="338328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3383280"/>
            <a:ext cx="2651760" cy="54864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29" name="Text 27"/>
          <p:cNvSpPr/>
          <p:nvPr/>
        </p:nvSpPr>
        <p:spPr>
          <a:xfrm>
            <a:off x="6208776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Lebenslanges Lernen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08776" y="38862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nach Jahren zurück in die Bildung möchte, findet keine modularen, anerkannten, bezahlbaren Angebote.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bestehende Modelle nicht reichen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Traditionelle Hochschulen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3657600" cy="530352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856232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37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Starre Semesterstruktur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Platz für Lebensrealitäten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313432"/>
            <a:ext cx="3657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478024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359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Campus-Präsenzpflicht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2587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Geografisch exklusiv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935224"/>
            <a:ext cx="3657600" cy="530352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099816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980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Kohorten-Logik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verpasst = Jahre verloren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557016"/>
            <a:ext cx="3657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721608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602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Langsame Curricula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8313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Arbeitsmarkt überholt das Angebot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178808"/>
            <a:ext cx="3657600" cy="530352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343400"/>
            <a:ext cx="4572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224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Einstiegshürden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4453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Brücken für Nicht-Traditionelle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051560"/>
            <a:ext cx="393192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Fernhochschulen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83480" y="1691640"/>
            <a:ext cx="3657600" cy="5303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3" name="Shape 31"/>
          <p:cNvSpPr/>
          <p:nvPr/>
        </p:nvSpPr>
        <p:spPr>
          <a:xfrm>
            <a:off x="4983480" y="1856232"/>
            <a:ext cx="4572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1737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Flexibel &amp; digital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38928" y="1965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Das funktioniert gut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2313432"/>
            <a:ext cx="3657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2478024"/>
            <a:ext cx="4572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5138928" y="2359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€2.000–4.000 pro Jahr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38928" y="2587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viele nicht leistbar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83480" y="2935224"/>
            <a:ext cx="3657600" cy="53035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1" name="Shape 39"/>
          <p:cNvSpPr/>
          <p:nvPr/>
        </p:nvSpPr>
        <p:spPr>
          <a:xfrm>
            <a:off x="4983480" y="3099816"/>
            <a:ext cx="4572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5138928" y="2980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Rasantes Wachstum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38928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öffentliche Kontrolle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83480" y="3557016"/>
            <a:ext cx="3657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983480" y="3721608"/>
            <a:ext cx="4572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5138928" y="3602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 nicht gesichert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38928" y="38313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einheitlichen Standards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83480" y="4178808"/>
            <a:ext cx="3657600" cy="53035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9" name="Shape 47"/>
          <p:cNvSpPr/>
          <p:nvPr/>
        </p:nvSpPr>
        <p:spPr>
          <a:xfrm>
            <a:off x="4983480" y="4343400"/>
            <a:ext cx="4572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5138928" y="4224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Gewinne privatisiert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38928" y="44531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 Hand profitiert nicht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Die Antwort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Open University of Germany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931920" cy="160020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3931920" cy="64008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453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Akademische Qualität ist nicht verhandelbar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vergibt Abschlüsse mit denselben Standards wie jede staatliche Hochschule. Qualität wird nicht durch Herkunft, Lernweg oder Format definiert — sondern durch nachweisbare Kompetenzen.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3931920" cy="160020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417320"/>
            <a:ext cx="393192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453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 ist ein Ergebnis, kein Versprechen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Niedrige Hürden beim Einstieg reichen nicht. OUG baut strukturellen Support ein: Begleitung, flexible Wege, Mikrozertifikate als Brücken — damit Einstieg auch Erfolg bedeutet.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3931920" cy="160020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54680"/>
            <a:ext cx="393192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826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stapelbar, anerkannt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7033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 können einzelne Module absolvieren, Zertifikate sammeln und schrittweise einen anerkannten Abschluss aufbauen — in ihrem eigenen Tempo, passend zum Leben.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154680"/>
            <a:ext cx="3931920" cy="160020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154680"/>
            <a:ext cx="3931920" cy="6400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2826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Öffentlich-rechtlich — nicht kommerziell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7033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der Studiengebühren fließen direkt an öffentliche Partnerhochschulen. Kein Gewinn für Aktionäre. Öffentliche Qualitätskontrolle statt privater Beliebigkeit.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info@openuniversity.de  ·  Konzeptbüro OUG  ·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funktioniert: Das Kooperationsmodell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383280" y="1645920"/>
            <a:ext cx="2377440" cy="1371600"/>
          </a:xfrm>
          <a:prstGeom prst="ellipse">
            <a:avLst/>
          </a:prstGeom>
          <a:solidFill>
            <a:srgbClr val="1B2E4B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71907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37360"/>
            <a:ext cx="265176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Partnerhochschulen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Bringen Lehrveranstaltungen ein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Erhalten 60 % je ECTS-Einheit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zusätzliche Kapazitätslast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Starker Kooperationsanreiz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737360"/>
            <a:ext cx="265176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828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24028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 20 €/ECTS (30 ECTS = 600 €/Jahr)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Modulares Studium — eigenes Tempo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Stapelbare, anerkannte Abschlüsse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75 % günstiger als private Anbieter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71800" y="2304288"/>
            <a:ext cx="4114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Ausschüttung 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434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Lehrveranstaltungen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2304288"/>
            <a:ext cx="4114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20 €/ECTS 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4434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Abschluss, Qualität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154680"/>
            <a:ext cx="2377440" cy="594360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182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behält 40 %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Qualität &amp; Plattform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fünf strategischen Säulen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ist nach Verfassungslogik designed — mit klaren Prinzipien, die nicht verhandelbar sind.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536192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1536192" cy="50292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6459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17627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Akademisches Vertrauen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Maßstab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Qualität, Integrität und Glaubwürdigkeit der Lehre — unabhängig von Lernweg, Format oder Zielgruppe. Qualität hat immer Vorrang.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21408" y="1600200"/>
            <a:ext cx="1536192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21408" y="1600200"/>
            <a:ext cx="1536192" cy="50292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6459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12848" y="217627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 mit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Erfolgsverantwortung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12848" y="2907792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Offener Einstieg genügt nicht. Struktureller Support, Begleitung und flexible Wege sichern tatsächlichen Lernerfolg.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85616" y="1600200"/>
            <a:ext cx="1536192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85616" y="1600200"/>
            <a:ext cx="1536192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3858768" y="16459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77056" y="217627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Bildung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einer volatilen Welt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77056" y="2907792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Curricula, die sich schnell an Arbeitsmarkt und Gesellschaft anpassen — innerhalb klarer Qualitätsgrenzen.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9824" y="1600200"/>
            <a:ext cx="1536192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9824" y="1600200"/>
            <a:ext cx="1536192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5522976" y="16459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41264" y="217627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Nachhaltige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Portfolio-Logik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41264" y="2907792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Finanzielle Tragfähigkeit als Designbedingung, nicht als Nachgedanke. Ehrliche Entscheidungen über Wachstum und Portfoliobreite.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14032" y="1600200"/>
            <a:ext cx="1536192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14032" y="1600200"/>
            <a:ext cx="1536192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7187184" y="16459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05472" y="217627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Legitime und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effektive Governance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05472" y="2907792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Partizipation schafft Legitimität — aber Entscheidungsfähigkeit bleibt erhalten. Klare Rollen, Transparenz, Verantwortlichkeit.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006C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1830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Konflikten zwischen Säulen gilt: Akademische Qualität (P1) hat immer Vorrang vor allen anderen Zielen.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 ist Architektur — nicht Rhetorik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OUG sicherstellt, dass Flexibilität nicht auf Kosten der Qualität geht.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64008" cy="100584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819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Trennung von Lehre und Prüfung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019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lehrt, prüft nicht. Akademische Standards sind vom Lehrformat entkoppelt — so bleiben sie robust, egal wie oder wo gelernt wird.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508760"/>
            <a:ext cx="64008" cy="100584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819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Kompetenzorientierte Abschlüsse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9019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Abschluss wird nicht nach Anwesenheit vergeben, sondern nach nachweisbaren Kompetenzen — unabhängig vom Lernweg.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51760"/>
            <a:ext cx="64008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249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Modulare Kohärenz durch Architektur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0449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sind nicht beliebig kombinierbar. Skill-Profile und Voraussetzungsregeln garantieren akademische Tiefe und Progression.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65176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651760"/>
            <a:ext cx="64008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7249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Partizipative Governance — mit Entscheidungskraft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0449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Senat, Mission Hubs, externe Perspektiven. Partizipation schafft Legitimität — aber klare Entscheidungsrechte verhindern Lähmung.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94760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679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 Qualitätsschleifen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1879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Warten auf Akkreditierungszyklen. Feedforward-Prozesse, Datenauswertung und Lernschleifen verbessern die Qualität laufend.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794760"/>
            <a:ext cx="4160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794760"/>
            <a:ext cx="64008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8679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Schutz vor Instrumentalisierung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41879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Akademische Qualitätsentscheidungen sind vor strategischem oder finanziellem Druck geschützt — verfassungsrechtlich verankert.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OUG ist — und was nicht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IST: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00600" y="1024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IST NICHT: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1005840"/>
            <a:ext cx="36576" cy="3840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17320"/>
            <a:ext cx="39776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17320"/>
            <a:ext cx="64008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72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OUG ist eine staatlich anerkannte Hochschule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764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Abschlusshoheit, Qualitätssicherung und Akkreditierung nach deutschem Recht.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04288"/>
            <a:ext cx="39776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04288"/>
            <a:ext cx="64008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359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OUG ist ein Kooperationsmodell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isolierte Institution — sondern ein Netzwerk mit Partnerhochschulen, die Lehre einbringen.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39776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91256"/>
            <a:ext cx="64008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46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OUG ist für Menschen, die sonst nicht studieren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5387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Konkurrenz zu bestehenden Hochschulen — eine Ergänzung für bisher Unerreichte.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39776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78224"/>
            <a:ext cx="64008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33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OUG ist öffentlich-rechtlich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425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Profit für Aktionäre — 60 % fließen an öffentliche Partner.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417320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417320"/>
            <a:ext cx="64008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472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Kein MOOC-Anbieter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1764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vergibt echte, anerkannte Abschlüsse — keine bloßen Zertifikate ohne Gewicht.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304288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304288"/>
            <a:ext cx="64008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359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Keine Abschluss-Fabrik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 ist nicht verhandelbar. Flexibilität entsteht durch Architektur, nicht durch Absenkung.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191256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191256"/>
            <a:ext cx="64008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246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Kein Startup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5387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VC-Modell, kein Exit-Ziel. Öffentlicher Auftrag mit öffentlicher Kontrolle.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4078224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4078224"/>
            <a:ext cx="64008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4133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Kein Ersatz für Präsenzhochschulen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44256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bedient eine andere Nachfrage — nicht denselben Markt auf billigem Weg.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Weg: Aufbau, Wachstum, Tragfähigkeit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011680" cy="64008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0–1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16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Akkreditierung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IT-Infrastruktur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Governance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00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Erste Partnerhochschulen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1828800" cy="347472"/>
          </a:xfrm>
          <a:prstGeom prst="rect">
            <a:avLst/>
          </a:prstGeom>
          <a:solidFill>
            <a:srgbClr val="1B2E4B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245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€4,1 Mio. CAPEX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105156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14600" y="1051560"/>
            <a:ext cx="2011680" cy="64008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2–4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1316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Anlauf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0604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400 → 666 Studierende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Modulangebot wächst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Marketing &amp; Community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3300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Grundmittel greifen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06040" y="4206240"/>
            <a:ext cx="1828800" cy="347472"/>
          </a:xfrm>
          <a:prstGeom prst="rect">
            <a:avLst/>
          </a:prstGeom>
          <a:solidFill>
            <a:srgbClr val="006C8A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606040" y="42245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€3,0 Mio. Betrieb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05156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051560"/>
            <a:ext cx="201168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5–7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1316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2030–2033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732 → 886 Studierende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Micro-Credentials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Konsolidierung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3300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Peak Funding Jahr 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4206240"/>
            <a:ext cx="1828800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42245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€11,6 Mio.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12280" y="105156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12280" y="1051560"/>
            <a:ext cx="2011680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690372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8–10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1316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Tragfähigkeit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0372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2033–2036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03720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Break-even Jahr 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0372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1.883 Lernende Jahr 10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€307k Überschuss Jahr 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03720" y="3300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1.800+ neue Akademiker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4206240"/>
            <a:ext cx="1828800" cy="347472"/>
          </a:xfrm>
          <a:prstGeom prst="rect">
            <a:avLst/>
          </a:prstGeom>
          <a:solidFill>
            <a:srgbClr val="16A34A">
              <a:alpha val="1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903720" y="42245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Selbsttragend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Fazit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Frage ist nicht,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offene Hochschulbildung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 ist.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Frage ist, ob wir sie dem Zufall überlassen —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 ihr eine Institution geben, die trägt.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2651760" cy="137160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46120"/>
            <a:ext cx="2651760" cy="64008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37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3913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Akademiker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Jahr 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246120"/>
            <a:ext cx="2651760" cy="137160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3246120"/>
            <a:ext cx="2651760" cy="64008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3337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€2.250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3913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pro Student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€8–10k traditionell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246120"/>
            <a:ext cx="2651760" cy="137160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3246120"/>
            <a:ext cx="2651760" cy="64008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337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46520" y="3913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Gebühren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öffentliche Hochschulen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info@openuniversity.de  ·  Konzeptbüro OUG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University of Germany – Was wir aufbauen</dc:title>
  <dc:subject>PptxGenJS Presentation</dc:subject>
  <dc:creator>PptxGenJS</dc:creator>
  <cp:lastModifiedBy>PptxGenJS</cp:lastModifiedBy>
  <cp:revision>1</cp:revision>
  <dcterms:created xsi:type="dcterms:W3CDTF">2026-02-20T19:01:02Z</dcterms:created>
  <dcterms:modified xsi:type="dcterms:W3CDTF">2026-02-20T19:01:02Z</dcterms:modified>
</cp:coreProperties>
</file>