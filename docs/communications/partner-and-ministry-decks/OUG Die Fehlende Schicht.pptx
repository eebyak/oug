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 POSITIONIERUNG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fehlende Schicht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E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ein kompetenzbasiertes Bildungssystem eine föderierte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D6E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Kredenzierungsinfrastruktur benötigt — und wie die OUG diese bereitstellt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41148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11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of Germany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ungelöste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BREITER KONSENS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Lernen sollte modular und lebenslang sein.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Credentials sollen Kompetenzen abbilden, nicht Sitzzeit.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Qualifikationen müssen portabel und lesbar sein.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Bildungswege sollen flexibel und offen sein.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OFFENE FRAGE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Wenn jeder Credentials ausstellen kann 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regiert die Schicht, die diese Credentials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vertrauenswürdig und interoperabel macht?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92040" y="2926080"/>
            <a:ext cx="3749040" cy="36576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017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Diese Frage beantwortet kein Policy-Bericht.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OUG beantwortet sie strukturell.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of Germany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Modelle — drei strukturelle Grenzen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2743200" cy="47548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Plattformmodell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50876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Coursera · Google · LinkedIn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4048" y="1874520"/>
            <a:ext cx="2523744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B8DE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87452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STÄRKE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210312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Skalierbar, schnell, global zugänglich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2834640"/>
            <a:ext cx="2523744" cy="182880"/>
          </a:xfrm>
          <a:prstGeom prst="rect">
            <a:avLst/>
          </a:prstGeom>
          <a:solidFill>
            <a:srgbClr val="FAEAEA"/>
          </a:solidFill>
          <a:ln w="6350">
            <a:solidFill>
              <a:srgbClr val="E8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8346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STRUKTURGRENZE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4048" y="306324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 öffentliches Governing. Akademische Legitimität fehlt. Fragmentierung.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18688" y="960120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960120"/>
            <a:ext cx="2743200" cy="47548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960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Universitätsmodell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150876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Bestehende Hochschulen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28416" y="1874520"/>
            <a:ext cx="2523744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B8DE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187452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STÄRKE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28416" y="210312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Hohes institutionelles Vertrauen. Anerkannte Abschlüsse.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28416" y="2834640"/>
            <a:ext cx="2523744" cy="182880"/>
          </a:xfrm>
          <a:prstGeom prst="rect">
            <a:avLst/>
          </a:prstGeom>
          <a:solidFill>
            <a:srgbClr val="FAEAEA"/>
          </a:solidFill>
          <a:ln w="6350">
            <a:solidFill>
              <a:srgbClr val="E8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28346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STRUKTURGRENZE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28416" y="306324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Abschluss-zentrisch. Geringe Interoperabilität. Zu langsam für lebenslanges Lernen.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63056" y="960120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960120"/>
            <a:ext cx="2743200" cy="475488"/>
          </a:xfrm>
          <a:prstGeom prst="rect">
            <a:avLst/>
          </a:prstGeom>
          <a:solidFill>
            <a:srgbClr val="7A4A00"/>
          </a:solidFill>
          <a:ln w="12700">
            <a:solidFill>
              <a:srgbClr val="7A4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960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Staatsregister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72784" y="150876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Nationale Qualifikationsrahmen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72784" y="1874520"/>
            <a:ext cx="2523744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B8DE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187452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STÄRKE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72784" y="210312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Standardisierungspotenzial. Öffentliche Legitimität.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72784" y="2834640"/>
            <a:ext cx="2523744" cy="182880"/>
          </a:xfrm>
          <a:prstGeom prst="rect">
            <a:avLst/>
          </a:prstGeom>
          <a:solidFill>
            <a:srgbClr val="FAEAEA"/>
          </a:solidFill>
          <a:ln w="6350">
            <a:solidFill>
              <a:srgbClr val="E8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28346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STRUKTURGRENZE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72784" y="306324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Bürokratisch. Vom echten Lernökosystem entkoppelt.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736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Keines dieser Modelle löst das Infrastrukturproblem allein.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of Germany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Drei-Schichten-Architektur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Schicht 1 — Lernen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03520" y="9601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Hochschulen · Unternehmen · Plattformen · Berufsgemeinschaften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35608"/>
            <a:ext cx="822960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356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und kontinuierlich. Gut abgedeckt durch bestehende Anbietervielfalt.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920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137160" cy="475488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488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Schicht 2 — Kredenzierungsinfrastruktur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03520" y="21488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Vertrauen · Verifikation · Aggregation · Interoperabilität · Governance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8229600" cy="457200"/>
          </a:xfrm>
          <a:prstGeom prst="rect">
            <a:avLst/>
          </a:prstGeom>
          <a:solidFill>
            <a:srgbClr val="E8ED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243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Übersetzungsschicht zwischen Lernen und Arbeitsmarkt. Institutionell unregiert. Das ist die fehlende Schicht.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31089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47548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375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Schicht 3 — Arbeitsmarkt-Matching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03520" y="33375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Arbeitgeber · Plattformen · HR-Systeme · Skills-Matching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13048"/>
            <a:ext cx="822960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130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Gut digitalisiert. Wirksamkeit hängt vollständig von Schicht 2 ab.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of Germany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die OUG genau 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04672"/>
          </a:xfrm>
          <a:prstGeom prst="rect">
            <a:avLst/>
          </a:prstGeom>
          <a:solidFill>
            <a:srgbClr val="18273D"/>
          </a:solidFill>
          <a:ln w="6350">
            <a:solidFill>
              <a:srgbClr val="2A3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04241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4128" y="106070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Keine Fernlernplattform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37160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OUG ist eine staatlich anerkannte, abschlussverleihende Hochschule — kein Delivery-Mechanismus.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804672"/>
          </a:xfrm>
          <a:prstGeom prst="rect">
            <a:avLst/>
          </a:prstGeom>
          <a:solidFill>
            <a:srgbClr val="18273D"/>
          </a:solidFill>
          <a:ln w="6350">
            <a:solidFill>
              <a:srgbClr val="2A3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0253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202082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Keine klassische Universität mit Online-Angeboten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33172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Anfang an für föderierte, modulare, verteilte Organisation entwickelt — kein umgerüstetes Campus-Modell.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04672"/>
          </a:xfrm>
          <a:prstGeom prst="rect">
            <a:avLst/>
          </a:prstGeom>
          <a:solidFill>
            <a:srgbClr val="18273D"/>
          </a:solidFill>
          <a:ln w="6350">
            <a:solidFill>
              <a:srgbClr val="2A3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6265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298094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 Mikro-Credential-Experiment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3291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Mikro-Credentials sind ein Bestandteil. Das Unterscheidungsmerkmal ist das Governance-Framework, das sie vertrauenswürdig macht.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804672"/>
          </a:xfrm>
          <a:prstGeom prst="rect">
            <a:avLst/>
          </a:prstGeom>
          <a:solidFill>
            <a:srgbClr val="1A3A2A"/>
          </a:solidFill>
          <a:ln w="6350">
            <a:solidFill>
              <a:srgbClr val="5BC4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86200"/>
            <a:ext cx="109728" cy="804672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92277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394106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föderierte Kredenzierungsinfrastruktur-Institution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425196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vertrauenswürdige Governance- und Verifikationsschicht zwischen verteiltem Lernen und dem Arbeitsmarkt.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of Germany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institutionelle Merkmale, die Schicht 2 erfordern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50292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C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124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Föderiertes Governing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eine Institution — eine Governance-Schicht über mehreren Partnern. Genau das, was Schicht 2 braucht.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50292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C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57800" y="1124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Abschlusshoheit + modulare Architektur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554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OUG hält den Abschluss, während Lernen aus Modulen mehrerer Quellen aufgebaut wird. Interoperabel und vertrauenswürdig.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80360"/>
            <a:ext cx="50292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8036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C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30449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Öffentliche Legitimität ohne bürokratische Starre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Deutsches Hochschulrecht + europäische Akkreditierung. Flexibel genug für lebenslanges Lernen.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80360"/>
            <a:ext cx="50292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88036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C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57800" y="30449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Interoperabilität by 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34747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ECTS, European Digital Credentials, ESCO — keine nachträgliche Ergänzung. Konstitutives Strukturmerkmal.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of Germany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Projekte der OUG als impliziter Aufbau der Architektur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8503920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0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017520" y="960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Systemschicht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49240" y="9601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 in der Architektur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89304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6245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Study · DHBW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36245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Schicht 1 — Lernen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136245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Concept für online-first Studienprogramme im deutschen HE-System.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947672"/>
            <a:ext cx="8503920" cy="594360"/>
          </a:xfrm>
          <a:prstGeom prst="rect">
            <a:avLst/>
          </a:prstGeom>
          <a:solidFill>
            <a:srgbClr val="F4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47672"/>
            <a:ext cx="73152" cy="594360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0208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Pathways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02082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Schicht 2 — Infrastruktur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20208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Direkte Arbeit an Lernpfad-Interoperabilität über Institutions- und Ländergrenzen.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6791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STIL-Antrag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6791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Schicht 1 + 2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26791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Institutioneller Wille zur Kooperation. Koalitionsinfrastruktur für die Föderation.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64408"/>
            <a:ext cx="8503920" cy="594360"/>
          </a:xfrm>
          <a:prstGeom prst="rect">
            <a:avLst/>
          </a:prstGeom>
          <a:solidFill>
            <a:srgbClr val="F4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64408"/>
            <a:ext cx="73152" cy="594360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3375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EU-Allianz Erasmus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3337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Schicht 2 — Infrastruktur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3337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KI-Integration, offene Pfade, eingebettet in europäische Interoperabilitäts-Frameworks.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922776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922776"/>
            <a:ext cx="73152" cy="594360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9959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OUG Föderationsmodell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399592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Schicht 2 — Vollarchitektur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39959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Föderiertes Governing, geteilte Standards, modulare Pfade, qualitätsgesicherte Interoperabilität.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736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Projekte sahen wie separate Initiativen aus — sie bauten implizit alle drei Schichten auf.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of Germany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tiefere Transformation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3931920" cy="38404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HISTORISCHES UNIVERSITÄTSMODELL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Lehre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Zertifizierung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Wissensgenerierung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 drei Funktionen in einer Institution gebündelt.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Digitales Lernen entkoppelt diese Funktionen.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892040" y="914400"/>
            <a:ext cx="39319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914400"/>
            <a:ext cx="393192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LERNINFRASTRUKTUR-INSTITUTION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492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Lehre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Zertifizierung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Wissensgenerierung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Lerninfrastruktur-Governance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74920" y="2834640"/>
            <a:ext cx="3566160" cy="36576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9443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vierte Funktion ist der Beitrag, den verteiltes Lernen von einer Universität verlangt — und den die OUG strukturell erbringt.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of Germany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das für Policy-Gespräche relevant 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8503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164592" cy="1188720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Mikro-Credential-Framework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Setzt eine vertrauenswürdige institutionelle Schicht voraus, die Credentials über Anbieter hinweg ausstellen und aggregieren kann. Die OUG ist diese Schicht — auf nationaler Ebene, mit europäischer Skalierbarkeit.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313432"/>
            <a:ext cx="8503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13432"/>
            <a:ext cx="164592" cy="11887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048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Nationale Qualifikations- und Arbeitskräftepolitik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77063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Deutschland braucht flexible Qualifizierungswege für Erwerbstätige. Die OUG bietet genau das, was Arbeitsmarktpolitik braucht, aber nicht selbst schaffen kann.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666744"/>
            <a:ext cx="8503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666744"/>
            <a:ext cx="16459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5818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Hochschulpolitik und Akkreditierung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123944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OUG bedroht die bestehende Hochschullandschaft nicht. Sie ergänzt sie — indem sie Lernende erreicht, die bestehende Hochschulen strukturell nicht erreichen können.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of Germany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Frage, die das System bereits stellt: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regiert die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Vertrauensschicht des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lebenslangen Lernens?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4114800" cy="36576"/>
          </a:xfrm>
          <a:prstGeom prst="rect">
            <a:avLst/>
          </a:prstGeom>
          <a:solidFill>
            <a:srgbClr val="5BC4C0"/>
          </a:solidFill>
          <a:ln w="12700">
            <a:solidFill>
              <a:srgbClr val="5BC4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C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OUG ist die Antwort.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als Versprechen. Als institutionelle Architektur.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University of Germany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fehlende Schicht — Open University of Germany</dc:title>
  <dc:subject>PptxGenJS Presentation</dc:subject>
  <dc:creator>PptxGenJS</dc:creator>
  <cp:lastModifiedBy>PptxGenJS</cp:lastModifiedBy>
  <cp:revision>1</cp:revision>
  <dcterms:created xsi:type="dcterms:W3CDTF">2026-03-14T21:37:02Z</dcterms:created>
  <dcterms:modified xsi:type="dcterms:W3CDTF">2026-03-14T21:37:02Z</dcterms:modified>
</cp:coreProperties>
</file>