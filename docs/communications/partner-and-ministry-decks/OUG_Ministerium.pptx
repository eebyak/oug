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Jahresergebnis (T€)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B2E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cat>
            <c:multiLvlStrRef>
              <c:f>Sheet1!$A$2:$A$12</c:f>
              <c:multiLvlStrCache>
                <c:ptCount val="11"/>
                <c:lvl>
                  <c:pt idx="0">
                    <c:v>J0</c:v>
                  </c:pt>
                  <c:pt idx="1">
                    <c:v>J1</c:v>
                  </c:pt>
                  <c:pt idx="2">
                    <c:v>J2</c:v>
                  </c:pt>
                  <c:pt idx="3">
                    <c:v>J3</c:v>
                  </c:pt>
                  <c:pt idx="4">
                    <c:v>J4</c:v>
                  </c:pt>
                  <c:pt idx="5">
                    <c:v>J5</c:v>
                  </c:pt>
                  <c:pt idx="6">
                    <c:v>J6</c:v>
                  </c:pt>
                  <c:pt idx="7">
                    <c:v>J7</c:v>
                  </c:pt>
                  <c:pt idx="8">
                    <c:v>J8</c:v>
                  </c:pt>
                  <c:pt idx="9">
                    <c:v>J9</c:v>
                  </c:pt>
                  <c:pt idx="10">
                    <c:v>J10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-900</c:v>
                </c:pt>
                <c:pt idx="1">
                  <c:v>-1650</c:v>
                </c:pt>
                <c:pt idx="2">
                  <c:v>-1751</c:v>
                </c:pt>
                <c:pt idx="3">
                  <c:v>-1450</c:v>
                </c:pt>
                <c:pt idx="4">
                  <c:v>-1349</c:v>
                </c:pt>
                <c:pt idx="5">
                  <c:v>-245</c:v>
                </c:pt>
                <c:pt idx="6">
                  <c:v>-130</c:v>
                </c:pt>
                <c:pt idx="7">
                  <c:v>-11</c:v>
                </c:pt>
                <c:pt idx="8">
                  <c:v>123</c:v>
                </c:pt>
                <c:pt idx="9">
                  <c:v>149</c:v>
                </c:pt>
                <c:pt idx="10">
                  <c:v>308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B2E4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BUNDESMINISTERIUM FÜR BILDUNG UND FORSCHUNG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University of Germany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Finanzplan &amp; Förderantrag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öffentlich-rechtliche Alternative für lebenslanges Lernen in Deutschland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4572000" cy="27432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1.1  ·  20. Februar 2026  ·  Konzeptbüro OUG  ·  info@openuniversity.de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0" y="1371600"/>
            <a:ext cx="3200400" cy="3200400"/>
          </a:xfrm>
          <a:prstGeom prst="ellipse">
            <a:avLst/>
          </a:prstGeom>
          <a:solidFill>
            <a:srgbClr val="243A5E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498080" y="731520"/>
            <a:ext cx="2011680" cy="2011680"/>
          </a:xfrm>
          <a:prstGeom prst="ellipse">
            <a:avLst/>
          </a:prstGeom>
          <a:solidFill>
            <a:srgbClr val="006C8A">
              <a:alpha val="3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Ausgangslage und Marktversagen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39319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strukturelle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100.000+ Interessierte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erreichen das Bildungssystem nicht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Berufstätige, pflegende Angehörige,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Menschen in Lebensumbrüchen benötigen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Formate statt starrer Semester.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statt Semester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Stapelbare Abschlüsse statt Alles-oder-nichts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Qualitätssicherung fehlt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Anbieter dominieren ohne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öffentliche Aufsicht oder Standards.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97280"/>
            <a:ext cx="3931920" cy="54864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Marktlage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64592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Fernhochschulen wachsen rasant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IU, Macromedia, SRH und andere skalieren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€2.000–4.000 pro Student/Jahr.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öffentliche Hand profitiert nicht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Steuergelder finanzieren keine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öffentliche Alternative.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OUG schafft die öffentliche Alternative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60 % der Studiengebühren fließen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 an öffentliche Partnerhochschulen.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University of Germany – Konzeptbüro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Kooperationsmodell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2743200" cy="64008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155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OUG (Zentral)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2468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Vergabe von Abschlüssen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Qualitätssicherung &amp; Akkreditierung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Plattform &amp; Koordination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Behält 40 % der ECTS-Gebühren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0515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051560"/>
            <a:ext cx="2743200" cy="640080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1155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Partnerhochschulen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1874520"/>
            <a:ext cx="2468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Liefern Lehrveranstaltungen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Erhalten 60 % je ECTS-Einheit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zusätzliche Kapazitätslast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Starkes Kooperationsanreiz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0515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051560"/>
            <a:ext cx="2743200" cy="6400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1155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Studierende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1874520"/>
            <a:ext cx="2468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Zahlen 20 €/ECTS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Modulares Studium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Stapelbare Abschlüsse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75 % günstiger als private Anbieter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27248" y="2834640"/>
            <a:ext cx="182880" cy="2743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9048" y="2834640"/>
            <a:ext cx="182880" cy="2743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0" name="Text 18"/>
          <p:cNvSpPr/>
          <p:nvPr/>
        </p:nvSpPr>
        <p:spPr>
          <a:xfrm>
            <a:off x="3145536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60 % Ausschüttung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099048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20 €/ECTS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University of Germany – Konzeptbüro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Finanzkennzahlen im Überblick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1920240" cy="64008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€7,1 Mio.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Gesamtinvestition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+ 4 Jahre Betrieb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105156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051560"/>
            <a:ext cx="1920240" cy="64008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1887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€4,1 Mio.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60320" y="1828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(einmalig)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2240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Akkreditierung, IT, Governance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05156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051560"/>
            <a:ext cx="1920240" cy="6400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1887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€3,0 Mio.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663440" y="1828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Betriebskosten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2240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Jahre 1–4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75120" y="105156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75120" y="1051560"/>
            <a:ext cx="192024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11887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 8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766560" y="1828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(operativ)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0" y="2240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Realistisches Szenario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017520"/>
            <a:ext cx="1920240" cy="1737360"/>
          </a:xfrm>
          <a:prstGeom prst="rect">
            <a:avLst/>
          </a:prstGeom>
          <a:solidFill>
            <a:srgbClr val="1B2E4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31272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1.082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57200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Lernende Jahr 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114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732 regulär + 350 Micro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68880" y="3017520"/>
            <a:ext cx="1920240" cy="1737360"/>
          </a:xfrm>
          <a:prstGeom prst="rect">
            <a:avLst/>
          </a:prstGeom>
          <a:solidFill>
            <a:srgbClr val="1B2E4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560320" y="31272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1.883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2560320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Lernende Jahr 10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560320" y="4114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1.179 regulär + 704 Micro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0" y="3017520"/>
            <a:ext cx="1920240" cy="1737360"/>
          </a:xfrm>
          <a:prstGeom prst="rect">
            <a:avLst/>
          </a:prstGeom>
          <a:solidFill>
            <a:srgbClr val="1B2E4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663440" y="31272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38.887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4663440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ECTS-Volumen Jahr 10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63440" y="4114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Maßgeblich für Einnahmen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675120" y="3017520"/>
            <a:ext cx="1920240" cy="1737360"/>
          </a:xfrm>
          <a:prstGeom prst="rect">
            <a:avLst/>
          </a:prstGeom>
          <a:solidFill>
            <a:srgbClr val="1B2E4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766560" y="31272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€2.250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6766560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 pro Student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766560" y="4114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€8.000–10.000 traditionell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University of Germany – Konzeptbüro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10-Jahres-Entwicklung: Weg zur Tragfähigkeit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9436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457200" y="1097280"/>
          <a:ext cx="57607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583680" y="1097280"/>
            <a:ext cx="2331720" cy="1097280"/>
          </a:xfrm>
          <a:prstGeom prst="rect">
            <a:avLst/>
          </a:prstGeom>
          <a:solidFill>
            <a:srgbClr val="1B2E4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7512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132320" y="1143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€11,59 Mio.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675120" y="1600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Funding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675120" y="1874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 7 – Tiefpunkt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583680" y="2331720"/>
            <a:ext cx="2331720" cy="109728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6751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132320" y="2377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 8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67512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Operativer Break-even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675120" y="3108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+€123.000 Überschuss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583680" y="3566160"/>
            <a:ext cx="2331720" cy="1097280"/>
          </a:xfrm>
          <a:prstGeom prst="rect">
            <a:avLst/>
          </a:prstGeom>
          <a:solidFill>
            <a:srgbClr val="006C8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6751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132320" y="3611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1.883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675120" y="4069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Lernende Jahr 10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675120" y="43434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incl. Micro-Credentials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University of Germany – Konzeptbüro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Szenarioanalyse &amp; Robustheit des Modells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2651760" cy="5486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34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Konservativ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237744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019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Wachstum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37360" y="19019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8 %/Jahr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377440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4505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Preis/ECTS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37360" y="2450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18 €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926080"/>
            <a:ext cx="237744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992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Grundmittel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37360" y="29992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1.200 €/Student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474720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5478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37360" y="35478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 9–10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023360"/>
            <a:ext cx="237744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0965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Funding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37360" y="40965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€13,2 Mio.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1005840"/>
            <a:ext cx="265176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1005840"/>
            <a:ext cx="2651760" cy="548640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26" name="Text 24"/>
          <p:cNvSpPr/>
          <p:nvPr/>
        </p:nvSpPr>
        <p:spPr>
          <a:xfrm>
            <a:off x="3246120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Planungsgrundlage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37560" y="1097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Realistisch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337560" y="1691640"/>
            <a:ext cx="237744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17647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Wachstum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0" y="17647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10 %/Jahr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37560" y="2240280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3383280" y="23134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Preis/ECTS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0" y="23134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20 €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37560" y="2788920"/>
            <a:ext cx="237744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5" name="Text 33"/>
          <p:cNvSpPr/>
          <p:nvPr/>
        </p:nvSpPr>
        <p:spPr>
          <a:xfrm>
            <a:off x="3383280" y="28620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Grundmittel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0" y="28620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1.500 €/Student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337560" y="3337560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3383280" y="34107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0" y="34107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 8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337560" y="3886200"/>
            <a:ext cx="237744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1" name="Text 39"/>
          <p:cNvSpPr/>
          <p:nvPr/>
        </p:nvSpPr>
        <p:spPr>
          <a:xfrm>
            <a:off x="3383280" y="39593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Funding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0" y="39593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€11,6 Mio.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035040" y="114300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035040" y="1143000"/>
            <a:ext cx="2651760" cy="5486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3"/>
          <p:cNvSpPr/>
          <p:nvPr/>
        </p:nvSpPr>
        <p:spPr>
          <a:xfrm>
            <a:off x="6172200" y="1234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Optimistisch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172200" y="1828800"/>
            <a:ext cx="237744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7" name="Text 45"/>
          <p:cNvSpPr/>
          <p:nvPr/>
        </p:nvSpPr>
        <p:spPr>
          <a:xfrm>
            <a:off x="6217920" y="19019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Wachstum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406640" y="19019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15 %/Jahr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172200" y="2377440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6217920" y="24505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Preis/ECTS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406640" y="2450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22 €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172200" y="2926080"/>
            <a:ext cx="237744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3" name="Text 51"/>
          <p:cNvSpPr/>
          <p:nvPr/>
        </p:nvSpPr>
        <p:spPr>
          <a:xfrm>
            <a:off x="6217920" y="29992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Grundmittel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406640" y="29992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1.800 €/Student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172200" y="3474720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6217920" y="35478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406640" y="35478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 6–7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172200" y="4023360"/>
            <a:ext cx="237744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9" name="Text 57"/>
          <p:cNvSpPr/>
          <p:nvPr/>
        </p:nvSpPr>
        <p:spPr>
          <a:xfrm>
            <a:off x="6217920" y="40965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Funding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406640" y="40965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€9,8 Mio.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FFF8E1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Sensitivität: 2 % weniger Wachstum verschiebt den Break-even um ~2 Jahre. Marketing in den Jahren 1–3 ist der kritische Erfolgsfaktor.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University of Germany – Konzeptbüro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6C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Förderantrag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Unsere Empfehlung an das Ministerium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3657600" cy="3383280"/>
          </a:xfrm>
          <a:prstGeom prst="rect">
            <a:avLst/>
          </a:prstGeom>
          <a:solidFill>
            <a:srgbClr val="243A5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371600"/>
            <a:ext cx="365760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63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wir beantragen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€7,1 Mio. öffentliche Anschubfinanzierung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€4,1 Mio. CAPEX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Akkreditierung, IT-Infrastruktur, Governance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€3,0 Mio. Betriebskosten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Jahre 1–4 bis zur Eigenstabilisierung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Laufzeit: 10 Jahre bis Vollkostendeckung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4023360" cy="3383280"/>
          </a:xfrm>
          <a:prstGeom prst="rect">
            <a:avLst/>
          </a:prstGeom>
          <a:solidFill>
            <a:srgbClr val="243A5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71600"/>
            <a:ext cx="4023360" cy="64008"/>
          </a:xfrm>
          <a:prstGeom prst="rect">
            <a:avLst/>
          </a:prstGeom>
          <a:solidFill>
            <a:srgbClr val="0087AD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463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zurückkommt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92024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1.800+ Lernende bis Jahr 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bislang keinen Hochschulzugang fanden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€2,4 Mio. direkt an öffentliche Hochschulen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Partnerausschüttung bis Jahr 10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75 % günstiger pro Student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€2.250 vs. €8.000–10.000 traditionell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Öffentliche Qualitätskontrolle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Gegengewicht zu privatem Wachstum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info@openuniversity.de  ·  Konzeptbüro OUG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OUG Finanzplan – Ministeriumspräsentation</dc:title>
  <dc:subject>PptxGenJS Presentation</dc:subject>
  <dc:creator>PptxGenJS</dc:creator>
  <cp:lastModifiedBy>PptxGenJS</cp:lastModifiedBy>
  <cp:revision>1</cp:revision>
  <dcterms:created xsi:type="dcterms:W3CDTF">2026-02-20T18:29:15Z</dcterms:created>
  <dcterms:modified xsi:type="dcterms:W3CDTF">2026-02-20T18:29:15Z</dcterms:modified>
</cp:coreProperties>
</file>