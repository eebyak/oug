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eigentliche Krise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Geld.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Studierende.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Dieselben Regeln.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Hochschulen in Deutschland und Europa stehen unter strukturellem Druck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wegen Versagen, sondern wegen Wandel, den die bestehenden Strukturen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auffangen können.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7772400" cy="36576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4930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ist keine Konkurrenz zu bestehenden Hochschulen.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ist die Antwort, die bestehende Hochschulen nicht alleine geben können.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info@openuniversity.de  ·  Konzeptbüro OUG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strukturelle Druck auf Hochschulen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auf bestehende Hochschulen gleichzeitig einwirkt: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69748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63040"/>
            <a:ext cx="269748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08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24128" y="1572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Sinkende Grundmittel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286000"/>
            <a:ext cx="242316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450592"/>
            <a:ext cx="36576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23408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 Kaufkraft der Hochschulfinanzierung in DE seit 2005: −18 %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852928"/>
            <a:ext cx="242316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017520"/>
            <a:ext cx="36576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2907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Steigende Infrastrukturkosten, Energie, Personal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419856"/>
            <a:ext cx="242316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584448"/>
            <a:ext cx="36576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" y="34747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Projektmittel ersetzen Grundmittel — aber Projekte enden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2514600" cy="594360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4133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Hochschulen müssen mehr leisten mit real weniger Geld.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1463040"/>
            <a:ext cx="269748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463040"/>
            <a:ext cx="269748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1508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858768" y="1572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Sinkende Studierendenzahlen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37560" y="2286000"/>
            <a:ext cx="242316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Shape 25"/>
          <p:cNvSpPr/>
          <p:nvPr/>
        </p:nvSpPr>
        <p:spPr>
          <a:xfrm>
            <a:off x="3337560" y="2450592"/>
            <a:ext cx="36576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3447288" y="23408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Demografischer Rückgang: −15 % Schulabgänger bis 2035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2852928"/>
            <a:ext cx="242316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337560" y="3017520"/>
            <a:ext cx="36576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3447288" y="2907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Rückgang bei traditionellen Erststudierenden erwartet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3419856"/>
            <a:ext cx="242316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Shape 31"/>
          <p:cNvSpPr/>
          <p:nvPr/>
        </p:nvSpPr>
        <p:spPr>
          <a:xfrm>
            <a:off x="3337560" y="3584448"/>
            <a:ext cx="36576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3447288" y="34747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Anbieter nehmen Marktanteile — ohne staatliche Kontrolle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91840" y="4096512"/>
            <a:ext cx="2514600" cy="594360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364992" y="4133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Studierende bedeuten weniger Rechtfertigung — und weniger Mittel.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1463040"/>
            <a:ext cx="269748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35040" y="1463040"/>
            <a:ext cx="2697480" cy="6858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1508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6693408" y="1572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Unveränderliche Strukturen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72200" y="2286000"/>
            <a:ext cx="242316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Shape 40"/>
          <p:cNvSpPr/>
          <p:nvPr/>
        </p:nvSpPr>
        <p:spPr>
          <a:xfrm>
            <a:off x="6172200" y="2450592"/>
            <a:ext cx="36576" cy="18288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43" name="Text 41"/>
          <p:cNvSpPr/>
          <p:nvPr/>
        </p:nvSpPr>
        <p:spPr>
          <a:xfrm>
            <a:off x="6281928" y="23408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Landeshochschulgesetze: langsame Anpassung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2852928"/>
            <a:ext cx="242316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172200" y="3017520"/>
            <a:ext cx="36576" cy="18288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46" name="Text 44"/>
          <p:cNvSpPr/>
          <p:nvPr/>
        </p:nvSpPr>
        <p:spPr>
          <a:xfrm>
            <a:off x="6281928" y="2907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Akkreditierungslogik: für Präsenzmodelle gebaut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72200" y="3419856"/>
            <a:ext cx="242316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Shape 46"/>
          <p:cNvSpPr/>
          <p:nvPr/>
        </p:nvSpPr>
        <p:spPr>
          <a:xfrm>
            <a:off x="6172200" y="3584448"/>
            <a:ext cx="36576" cy="18288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49" name="Text 47"/>
          <p:cNvSpPr/>
          <p:nvPr/>
        </p:nvSpPr>
        <p:spPr>
          <a:xfrm>
            <a:off x="6281928" y="34747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Kapazitätsrechnung: kennt keine flexiblen Formate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4096512"/>
            <a:ext cx="2514600" cy="594360"/>
          </a:xfrm>
          <a:prstGeom prst="rect">
            <a:avLst/>
          </a:prstGeom>
          <a:solidFill>
            <a:srgbClr val="1B2E4B">
              <a:alpha val="12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199632" y="4133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Regelwerk wurde für eine andere Zeit geschrieben.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Professorinnen wirklich bewegt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Manning's Frage: "Nehmen sie die OUG als Chance wahr — oder als Bedrohung?" Wir kennen die Antwort. Hier ist sie, ehrlich: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402336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4023360" cy="502920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673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berechtigten Fragen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3749040" cy="47548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21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Statusverlust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4323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"Werde ich zum Lehrlieferanten für eine fremde Marke?"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734056"/>
            <a:ext cx="37490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7614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Qualitätskontrolle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"Wer entscheidet, was in meinem Fach zählt — OUG?"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3749040" cy="47548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3009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Mehrarbeit ohne Gegenwert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5112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"Das klingt nach mehr Verpflichtung für dasselbe Gehalt."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813048"/>
            <a:ext cx="37490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Kulturelle Fremdheit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0507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"Das ist nicht das, wofür ich Professorin wurde."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352544"/>
            <a:ext cx="3749040" cy="47548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3799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Institutioneller Verrat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590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"Tritt meine Hochschule damit Rechte ab, die ihr gehören?"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600200"/>
            <a:ext cx="402336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600200"/>
            <a:ext cx="4023360" cy="50292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673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OUG konkret gibt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2194560"/>
            <a:ext cx="3749040" cy="47548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9" name="Shape 27"/>
          <p:cNvSpPr/>
          <p:nvPr/>
        </p:nvSpPr>
        <p:spPr>
          <a:xfrm>
            <a:off x="4892040" y="2331720"/>
            <a:ext cx="36576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5010912" y="22219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Partner, nicht Lieferant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10912" y="2432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Lehre bleibt bei Ihnen. OUG zertifiziert — trägt aber Ihren Namen nach außen.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2734056"/>
            <a:ext cx="37490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892040" y="2871216"/>
            <a:ext cx="36576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5010912" y="27614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Fachliche Souveränität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10912" y="2971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Qualitätsstandards entstehen mit Partnern — nicht für sie.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273552"/>
            <a:ext cx="3749040" cy="47548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410712"/>
            <a:ext cx="36576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Text 36"/>
          <p:cNvSpPr/>
          <p:nvPr/>
        </p:nvSpPr>
        <p:spPr>
          <a:xfrm>
            <a:off x="5010912" y="33009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ECTS-Vergütung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10912" y="35112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fließen direkt zurück — transparent, vertraglich, verlässlich.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3813048"/>
            <a:ext cx="37490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892040" y="3950208"/>
            <a:ext cx="36576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40"/>
          <p:cNvSpPr/>
          <p:nvPr/>
        </p:nvSpPr>
        <p:spPr>
          <a:xfrm>
            <a:off x="5010912" y="3840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Zielgruppen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10912" y="40507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Menschen, die Sie nie als Studierende gehabt hätten. Ihr Wissen wirkt weiter.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352544"/>
            <a:ext cx="3749040" cy="47548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5" name="Shape 43"/>
          <p:cNvSpPr/>
          <p:nvPr/>
        </p:nvSpPr>
        <p:spPr>
          <a:xfrm>
            <a:off x="4892040" y="4489704"/>
            <a:ext cx="36576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5010912" y="43799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Risiko auf Ihrem Rücken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10912" y="45902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trägt die Struktur-, Akkreditierungs- und Marketinglast.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Beziehungen bauen — nicht nur Strukturen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Manning's zentraler Einwand: "Ein Finanzmodell schafft kein Vertrauen. Menschen schaffen Vertrauen." Hier ist, wie wir das angehen: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01168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2011680" cy="54864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673352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der Entscheidung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2240280"/>
            <a:ext cx="1792224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2423160"/>
            <a:ext cx="36576" cy="2286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2860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Einzelgespräche — nicht Präsentationen. Zuhören, bevor wir erklären.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2898648"/>
            <a:ext cx="1792224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" y="3081528"/>
            <a:ext cx="36576" cy="2286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94436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"Was bewegt Sie gerade in Ihrer Hochschule?" — das ist unser erster Satz.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" y="3557016"/>
            <a:ext cx="1792224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" y="3739896"/>
            <a:ext cx="36576" cy="2286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60273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Pitches. Echte Gespräche über das, was schief läuft.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" y="4215384"/>
            <a:ext cx="1792224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" y="4398264"/>
            <a:ext cx="36576" cy="2286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26110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Finden: Wer hat ähnliche Frustrationen? Wer sieht die Lücke?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14600" y="1600200"/>
            <a:ext cx="201168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14600" y="1600200"/>
            <a:ext cx="2011680" cy="54864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24" name="Text 22"/>
          <p:cNvSpPr/>
          <p:nvPr/>
        </p:nvSpPr>
        <p:spPr>
          <a:xfrm>
            <a:off x="2624328" y="1673352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Beim ersten Ja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24328" y="2240280"/>
            <a:ext cx="1792224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2624328" y="2423160"/>
            <a:ext cx="36576" cy="22860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27" name="Text 25"/>
          <p:cNvSpPr/>
          <p:nvPr/>
        </p:nvSpPr>
        <p:spPr>
          <a:xfrm>
            <a:off x="2715768" y="22860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Pilotmodul gemeinsam entwickeln — nicht vorgeben.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24328" y="2898648"/>
            <a:ext cx="1792224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2624328" y="3081528"/>
            <a:ext cx="36576" cy="22860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30" name="Text 28"/>
          <p:cNvSpPr/>
          <p:nvPr/>
        </p:nvSpPr>
        <p:spPr>
          <a:xfrm>
            <a:off x="2715768" y="294436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Professorin bleibt Autorin ihres Moduls, nicht Zulieferer.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24328" y="3557016"/>
            <a:ext cx="1792224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30"/>
          <p:cNvSpPr/>
          <p:nvPr/>
        </p:nvSpPr>
        <p:spPr>
          <a:xfrm>
            <a:off x="2624328" y="3739896"/>
            <a:ext cx="36576" cy="22860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33" name="Text 31"/>
          <p:cNvSpPr/>
          <p:nvPr/>
        </p:nvSpPr>
        <p:spPr>
          <a:xfrm>
            <a:off x="2715768" y="360273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Vertrag: einfach, fair, schnell kündbar.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24328" y="4215384"/>
            <a:ext cx="1792224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2624328" y="4398264"/>
            <a:ext cx="36576" cy="22860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36" name="Text 34"/>
          <p:cNvSpPr/>
          <p:nvPr/>
        </p:nvSpPr>
        <p:spPr>
          <a:xfrm>
            <a:off x="2715768" y="426110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Erfolg feiern — auch kleinen. Sichtbarkeit für die Pilotin.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1600200"/>
            <a:ext cx="201168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1600200"/>
            <a:ext cx="2011680" cy="5486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1673352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laufenden Betrieb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73168" y="2240280"/>
            <a:ext cx="1792224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Shape 39"/>
          <p:cNvSpPr/>
          <p:nvPr/>
        </p:nvSpPr>
        <p:spPr>
          <a:xfrm>
            <a:off x="4773168" y="2423160"/>
            <a:ext cx="36576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40"/>
          <p:cNvSpPr/>
          <p:nvPr/>
        </p:nvSpPr>
        <p:spPr>
          <a:xfrm>
            <a:off x="4864608" y="22860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Qualitätsstandards entstehen mit Partnern in einem Kollegium.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73168" y="2898648"/>
            <a:ext cx="1792224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773168" y="3081528"/>
            <a:ext cx="36576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3"/>
          <p:cNvSpPr/>
          <p:nvPr/>
        </p:nvSpPr>
        <p:spPr>
          <a:xfrm>
            <a:off x="4864608" y="294436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Jährliche Treffen mit echten Gesprächen — kein Reporting.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73168" y="3557016"/>
            <a:ext cx="1792224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Shape 45"/>
          <p:cNvSpPr/>
          <p:nvPr/>
        </p:nvSpPr>
        <p:spPr>
          <a:xfrm>
            <a:off x="4773168" y="3739896"/>
            <a:ext cx="36576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4864608" y="360273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offen ansprechen. Keine geschönten Zahlen.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73168" y="4215384"/>
            <a:ext cx="1792224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4773168" y="4398264"/>
            <a:ext cx="36576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1" name="Text 49"/>
          <p:cNvSpPr/>
          <p:nvPr/>
        </p:nvSpPr>
        <p:spPr>
          <a:xfrm>
            <a:off x="4864608" y="426110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Partnervertreter im Senat von Anfang an.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812280" y="1600200"/>
            <a:ext cx="201168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812280" y="1600200"/>
            <a:ext cx="201168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4" name="Text 52"/>
          <p:cNvSpPr/>
          <p:nvPr/>
        </p:nvSpPr>
        <p:spPr>
          <a:xfrm>
            <a:off x="6922008" y="1673352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es schwierig wird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922008" y="2240280"/>
            <a:ext cx="1792224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6" name="Shape 54"/>
          <p:cNvSpPr/>
          <p:nvPr/>
        </p:nvSpPr>
        <p:spPr>
          <a:xfrm>
            <a:off x="6922008" y="2423160"/>
            <a:ext cx="36576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7" name="Text 55"/>
          <p:cNvSpPr/>
          <p:nvPr/>
        </p:nvSpPr>
        <p:spPr>
          <a:xfrm>
            <a:off x="7013448" y="22860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Eskalationswege — keine Überraschungen.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922008" y="2898648"/>
            <a:ext cx="1792224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6922008" y="3081528"/>
            <a:ext cx="36576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0" name="Text 58"/>
          <p:cNvSpPr/>
          <p:nvPr/>
        </p:nvSpPr>
        <p:spPr>
          <a:xfrm>
            <a:off x="7013448" y="294436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Qualitätsmängel werden gemeinsam behoben, nicht einseitig.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922008" y="3557016"/>
            <a:ext cx="1792224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2" name="Shape 60"/>
          <p:cNvSpPr/>
          <p:nvPr/>
        </p:nvSpPr>
        <p:spPr>
          <a:xfrm>
            <a:off x="6922008" y="3739896"/>
            <a:ext cx="36576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3" name="Text 61"/>
          <p:cNvSpPr/>
          <p:nvPr/>
        </p:nvSpPr>
        <p:spPr>
          <a:xfrm>
            <a:off x="7013448" y="360273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Partner kann aussteigen — und fair behandelt werden.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922008" y="4215384"/>
            <a:ext cx="1792224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6922008" y="4398264"/>
            <a:ext cx="36576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6" name="Text 64"/>
          <p:cNvSpPr/>
          <p:nvPr/>
        </p:nvSpPr>
        <p:spPr>
          <a:xfrm>
            <a:off x="7013448" y="426110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schafft Vertrauen: Wer fairen Abgang kennt, geht seltener.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 wir suchen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Titel.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Reputation.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Menschen mit Herzblut.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977640" cy="2834640"/>
          </a:xfrm>
          <a:prstGeom prst="rect">
            <a:avLst/>
          </a:prstGeom>
          <a:solidFill>
            <a:srgbClr val="243A5E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57400"/>
            <a:ext cx="3977640" cy="64008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48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das akademische Kollegium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578608"/>
            <a:ext cx="3703320" cy="51206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151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 über das Bestehende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sehen täglich, wen das System nicht erreicht — und es lässt sie nicht kalt.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3154680"/>
            <a:ext cx="3703320" cy="51206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9125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Lehrerfahrung außerhalb der Norm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41071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Weiterbildung, Berufsbegleitend, Abendkurs — sie kennen andere Lernwelten.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3730752"/>
            <a:ext cx="3703320" cy="51206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76732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Bereitschaft, etwas aufzubauen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9867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verwalten. Gestalten. Auch wenn es bedeutet, Neuland zu betreten.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240" y="4306824"/>
            <a:ext cx="3703320" cy="51206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34340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Vertrauen als Grundprinzip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45628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müssen nicht alles kontrollieren — aber wollen wissen, dass Qualität zählt.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057400"/>
            <a:ext cx="3977640" cy="2834640"/>
          </a:xfrm>
          <a:prstGeom prst="rect">
            <a:avLst/>
          </a:prstGeom>
          <a:solidFill>
            <a:srgbClr val="243A5E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057400"/>
            <a:ext cx="397764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3" name="Text 21"/>
          <p:cNvSpPr/>
          <p:nvPr/>
        </p:nvSpPr>
        <p:spPr>
          <a:xfrm>
            <a:off x="5010912" y="2148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Kuratorium &amp; Leitungsgremien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2578608"/>
            <a:ext cx="3703320" cy="51206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6151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Erfahrung mit echtem Aufbau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83464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Beiräte. Macherinnen. Menschen die wissen, was es bedeutet, etwas von null aufzubauen.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83480" y="3154680"/>
            <a:ext cx="3703320" cy="51206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319125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Geduld für den langen Weg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4920" y="341071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Exit-Denken. Break-even in Jahr 8 — und das ist in Ordnung.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83480" y="3730752"/>
            <a:ext cx="3703320" cy="51206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376732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 als Dienst, nicht als Status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39867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Türen öffnen für OUG — nicht für sich selbst.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83480" y="4306824"/>
            <a:ext cx="3703320" cy="51206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434340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Bereitschaft zur Reibung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74920" y="45628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Kritische Fragen willkommen. Wir brauchen Menschen, die widersprechen.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08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info@openuniversity.de  ·  Konzeptbüro OUG  ·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Kathedrale braucht Maurerinnen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Manning's Schlusswort: "You've built the cathedral on paper. Now you need the stonemasons." Das ist kein Vorwurf — es ist die nächste Aufgabe.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1371600"/>
          </a:xfrm>
          <a:prstGeom prst="rect">
            <a:avLst/>
          </a:prstGeom>
          <a:solidFill>
            <a:srgbClr val="1B2E4B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00200"/>
            <a:ext cx="64008" cy="13716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373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Kathedrale entsteht nicht durch einen Architekten.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entsteht durch Hunderte von Menschen, die jeden Morgen aufstehen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wissen: Diesen Stein lege ich für etwas, das größer ist als ich.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154680"/>
            <a:ext cx="82296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2552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sehen werden, wenn es gelingt: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639312"/>
            <a:ext cx="2560320" cy="10515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639312"/>
            <a:ext cx="2560320" cy="36576"/>
          </a:xfrm>
          <a:prstGeom prst="rect">
            <a:avLst/>
          </a:prstGeom>
          <a:solidFill>
            <a:srgbClr val="0087AD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70332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Professorin in Tübingen denkt zum ersten Mal: "Endlich erreiche ich auch die Krankenschwester in Flensburg."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3639312"/>
            <a:ext cx="2560320" cy="10515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337560" y="3639312"/>
            <a:ext cx="2560320" cy="36576"/>
          </a:xfrm>
          <a:prstGeom prst="rect">
            <a:avLst/>
          </a:prstGeom>
          <a:solidFill>
            <a:srgbClr val="0087AD"/>
          </a:solidFill>
          <a:ln/>
        </p:spPr>
      </p:sp>
      <p:sp>
        <p:nvSpPr>
          <p:cNvPr id="18" name="Text 16"/>
          <p:cNvSpPr/>
          <p:nvPr/>
        </p:nvSpPr>
        <p:spPr>
          <a:xfrm>
            <a:off x="3447288" y="370332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Kuratoriumsmitglied aus der Industrie sitzt nicht wegen des Titels da — sondern weil es weiß, was es heißt, mit Menschen aufzubauen, die wirklich glauben.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3639312"/>
            <a:ext cx="2560320" cy="10515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080760" y="3639312"/>
            <a:ext cx="2560320" cy="36576"/>
          </a:xfrm>
          <a:prstGeom prst="rect">
            <a:avLst/>
          </a:prstGeom>
          <a:solidFill>
            <a:srgbClr val="0087AD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88" y="370332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Studierende beendet nach sechs Jahren ihren Abschluss — als Mutter, als Pflegerin, als Vollzeitbeschäftigte. Sie war nie in unserem System. Jetzt schon.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Einladung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suchen keine Unterstützer.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suchen Mitbauende.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Unterschied: Unterstützer applaudieren.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Mitbauende stehen auf, wenn es schwierig wird.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2651760" cy="2148840"/>
          </a:xfrm>
          <a:prstGeom prst="rect">
            <a:avLst/>
          </a:prstGeom>
          <a:solidFill>
            <a:srgbClr val="243A5E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697480"/>
            <a:ext cx="2651760" cy="64008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Professorinnen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0906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Gespräch.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Pitch — ein Zuhören.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749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bewegt Sie? Was wäre möglich, wenn das System anders wäre? Daraus entsteht OUG.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2697480"/>
            <a:ext cx="2651760" cy="2148840"/>
          </a:xfrm>
          <a:prstGeom prst="rect">
            <a:avLst/>
          </a:prstGeom>
          <a:solidFill>
            <a:srgbClr val="243A5E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2697480"/>
            <a:ext cx="265176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Kuratoriumsmitglieder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30906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Urteil.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Ihr Name.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11880" y="3749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brauchen Menschen, die sagen, wenn etwas falsch läuft. Kritische Freunde — keine Cheerleader.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2697480"/>
            <a:ext cx="2651760" cy="2148840"/>
          </a:xfrm>
          <a:prstGeom prst="rect">
            <a:avLst/>
          </a:prstGeom>
          <a:solidFill>
            <a:srgbClr val="243A5E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2697480"/>
            <a:ext cx="2651760" cy="6400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das Ministerium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30906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Anfang ermöglichen.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alles entscheiden.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3749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€7,1 Mio. geben uns den Raum zu beweisen, dass es geht. Den Rest tun Menschen.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info@openuniversity.de  ·  Konzeptbüro OUG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OUG – Der menschliche Fall</dc:title>
  <dc:subject>PptxGenJS Presentation</dc:subject>
  <dc:creator>PptxGenJS</dc:creator>
  <cp:lastModifiedBy>PptxGenJS</cp:lastModifiedBy>
  <cp:revision>1</cp:revision>
  <dcterms:created xsi:type="dcterms:W3CDTF">2026-02-21T06:10:18Z</dcterms:created>
  <dcterms:modified xsi:type="dcterms:W3CDTF">2026-02-21T06:10:18Z</dcterms:modified>
</cp:coreProperties>
</file>